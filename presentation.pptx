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onsolas Bold" charset="1" panose="020B07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2697"/>
            <a:ext cx="4597403" cy="10312403"/>
            <a:chOff x="0" y="0"/>
            <a:chExt cx="6129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096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5F96">
                <a:alpha val="1961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29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732890"/>
                  </a:lnTo>
                  <a:cubicBezTo>
                    <a:pt x="6129782" y="13742290"/>
                    <a:pt x="6122162" y="13749782"/>
                    <a:pt x="6112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112891" y="13716000"/>
                  </a:lnTo>
                  <a:lnTo>
                    <a:pt x="6112891" y="13732890"/>
                  </a:lnTo>
                  <a:lnTo>
                    <a:pt x="6096000" y="13732890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>
                <a:alpha val="1961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812263" y="-12697"/>
            <a:ext cx="1488443" cy="10312403"/>
            <a:chOff x="0" y="0"/>
            <a:chExt cx="198459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A8FD1">
                <a:alpha val="588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45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732890"/>
                  </a:lnTo>
                  <a:cubicBezTo>
                    <a:pt x="1984502" y="13742290"/>
                    <a:pt x="1976882" y="13749782"/>
                    <a:pt x="19676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967611" y="13716000"/>
                  </a:lnTo>
                  <a:lnTo>
                    <a:pt x="1967611" y="13732890"/>
                  </a:lnTo>
                  <a:lnTo>
                    <a:pt x="1950720" y="13732890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>
                <a:alpha val="588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4583" y="2913383"/>
            <a:ext cx="135131" cy="4414523"/>
            <a:chOff x="0" y="0"/>
            <a:chExt cx="180175" cy="5886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4" cy="5852160"/>
            </a:xfrm>
            <a:custGeom>
              <a:avLst/>
              <a:gdLst/>
              <a:ahLst/>
              <a:cxnLst/>
              <a:rect r="r" b="b" t="t" l="l"/>
              <a:pathLst>
                <a:path h="5852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086" cy="5885942"/>
            </a:xfrm>
            <a:custGeom>
              <a:avLst/>
              <a:gdLst/>
              <a:ahLst/>
              <a:cxnLst/>
              <a:rect r="r" b="b" t="t" l="l"/>
              <a:pathLst>
                <a:path h="58859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869051"/>
                  </a:lnTo>
                  <a:cubicBezTo>
                    <a:pt x="180086" y="5878449"/>
                    <a:pt x="172466" y="5885942"/>
                    <a:pt x="163195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163195" y="5852160"/>
                  </a:lnTo>
                  <a:lnTo>
                    <a:pt x="163195" y="5869051"/>
                  </a:lnTo>
                  <a:lnTo>
                    <a:pt x="146304" y="58690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834640"/>
            <a:ext cx="10972800" cy="1097280"/>
            <a:chOff x="0" y="0"/>
            <a:chExt cx="146304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630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599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3696789"/>
            <a:ext cx="13716000" cy="2155371"/>
            <a:chOff x="0" y="0"/>
            <a:chExt cx="17068800" cy="2682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76225"/>
              <a:ext cx="17068800" cy="2958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16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Nepal House Price Estimator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5943600"/>
            <a:ext cx="13716000" cy="914400"/>
            <a:chOff x="0" y="0"/>
            <a:chExt cx="182880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8288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property valuation using Machine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0343" y="7119623"/>
            <a:ext cx="2768603" cy="98555"/>
            <a:chOff x="0" y="0"/>
            <a:chExt cx="369147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3657600" cy="97536"/>
            </a:xfrm>
            <a:custGeom>
              <a:avLst/>
              <a:gdLst/>
              <a:ahLst/>
              <a:cxnLst/>
              <a:rect r="r" b="b" t="t" l="l"/>
              <a:pathLst>
                <a:path h="975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A8FD1">
                <a:alpha val="3568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91382" cy="131320"/>
            </a:xfrm>
            <a:custGeom>
              <a:avLst/>
              <a:gdLst/>
              <a:ahLst/>
              <a:cxnLst/>
              <a:rect r="r" b="b" t="t" l="l"/>
              <a:pathLst>
                <a:path h="131320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4427"/>
                  </a:lnTo>
                  <a:cubicBezTo>
                    <a:pt x="3691382" y="123825"/>
                    <a:pt x="3683762" y="131318"/>
                    <a:pt x="36744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674491" y="97536"/>
                  </a:lnTo>
                  <a:lnTo>
                    <a:pt x="3674491" y="114427"/>
                  </a:lnTo>
                  <a:lnTo>
                    <a:pt x="3657600" y="114427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>
                <a:alpha val="3568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63040" y="7498080"/>
            <a:ext cx="10972800" cy="842218"/>
            <a:chOff x="0" y="0"/>
            <a:chExt cx="14630400" cy="1122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1122958"/>
            </a:xfrm>
            <a:custGeom>
              <a:avLst/>
              <a:gdLst/>
              <a:ahLst/>
              <a:cxnLst/>
              <a:rect r="r" b="b" t="t" l="l"/>
              <a:pathLst>
                <a:path h="11229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0" r="0" b="-1918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3040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spc="199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Bachelor's 5th Semester - AI Project</a:t>
              </a:r>
            </a:p>
            <a:p>
              <a:pPr algn="l">
                <a:lnSpc>
                  <a:spcPts val="2879"/>
                </a:lnSpc>
              </a:pPr>
              <a:r>
                <a:rPr lang="en-US" sz="2400" spc="2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Abhijit Shrestha,Subash Chaulagain,Simran Thapa,Subhashree Dahal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&amp; 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273303"/>
            <a:ext cx="8072123" cy="2951483"/>
            <a:chOff x="0" y="0"/>
            <a:chExt cx="10762831" cy="3935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918331"/>
                  </a:lnTo>
                  <a:cubicBezTo>
                    <a:pt x="10762742" y="3927729"/>
                    <a:pt x="10755122" y="3935222"/>
                    <a:pt x="1074585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745851" y="3901440"/>
                  </a:lnTo>
                  <a:lnTo>
                    <a:pt x="10745851" y="3918331"/>
                  </a:lnTo>
                  <a:lnTo>
                    <a:pt x="10728960" y="3918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153419" cy="2951483"/>
            <a:chOff x="0" y="0"/>
            <a:chExt cx="204559" cy="3935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0704" y="2615184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transparency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0704" y="3236976"/>
            <a:ext cx="7498080" cy="1645920"/>
            <a:chOff x="0" y="0"/>
            <a:chExt cx="999744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Nepal property prices are not publicly listed. Buyers have no way to verify if an asking price is fair.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7063" y="2273303"/>
            <a:ext cx="8072123" cy="2951483"/>
            <a:chOff x="0" y="0"/>
            <a:chExt cx="10762831" cy="3935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918331"/>
                  </a:lnTo>
                  <a:cubicBezTo>
                    <a:pt x="10762742" y="3927729"/>
                    <a:pt x="10755122" y="3935222"/>
                    <a:pt x="1074585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745851" y="3901440"/>
                  </a:lnTo>
                  <a:lnTo>
                    <a:pt x="10745851" y="3918331"/>
                  </a:lnTo>
                  <a:lnTo>
                    <a:pt x="10728960" y="3918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7063" y="2273303"/>
            <a:ext cx="153419" cy="2951483"/>
            <a:chOff x="0" y="0"/>
            <a:chExt cx="204559" cy="3935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38944" y="2615184"/>
            <a:ext cx="7498080" cy="640080"/>
            <a:chOff x="0" y="0"/>
            <a:chExt cx="999744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estimation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38944" y="3236976"/>
            <a:ext cx="7498080" cy="1645920"/>
            <a:chOff x="0" y="0"/>
            <a:chExt cx="999744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Traditionally a real estate agent guesses based on experience  highly subjective and inconsistent.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5656583"/>
            <a:ext cx="8072123" cy="2951483"/>
            <a:chOff x="0" y="0"/>
            <a:chExt cx="10762831" cy="3935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918331"/>
                  </a:lnTo>
                  <a:cubicBezTo>
                    <a:pt x="10762742" y="3927729"/>
                    <a:pt x="10755122" y="3935222"/>
                    <a:pt x="1074585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745851" y="3901440"/>
                  </a:lnTo>
                  <a:lnTo>
                    <a:pt x="10745851" y="3918331"/>
                  </a:lnTo>
                  <a:lnTo>
                    <a:pt x="10728960" y="3918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5656583"/>
            <a:ext cx="153419" cy="2951483"/>
            <a:chOff x="0" y="0"/>
            <a:chExt cx="204559" cy="3935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60704" y="5998464"/>
            <a:ext cx="7498080" cy="640080"/>
            <a:chOff x="0" y="0"/>
            <a:chExt cx="999744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 complexity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0704" y="6620256"/>
            <a:ext cx="7498080" cy="1645920"/>
            <a:chOff x="0" y="0"/>
            <a:chExt cx="999744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same property type can vary 3~5× in price just based on neighbourhood (Naxal vs Thankot).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97063" y="5656583"/>
            <a:ext cx="8072123" cy="2951483"/>
            <a:chOff x="0" y="0"/>
            <a:chExt cx="10762831" cy="39353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918331"/>
                  </a:lnTo>
                  <a:cubicBezTo>
                    <a:pt x="10762742" y="3927729"/>
                    <a:pt x="10755122" y="3935222"/>
                    <a:pt x="1074585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745851" y="3901440"/>
                  </a:lnTo>
                  <a:lnTo>
                    <a:pt x="10745851" y="3918331"/>
                  </a:lnTo>
                  <a:lnTo>
                    <a:pt x="10728960" y="3918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7063" y="5656583"/>
            <a:ext cx="153419" cy="2951483"/>
            <a:chOff x="0" y="0"/>
            <a:chExt cx="204559" cy="3935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38944" y="5998464"/>
            <a:ext cx="7498080" cy="640080"/>
            <a:chOff x="0" y="0"/>
            <a:chExt cx="999744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Sparse data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38944" y="6620256"/>
            <a:ext cx="7498080" cy="1645920"/>
            <a:chOff x="0" y="0"/>
            <a:chExt cx="999744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centralised database. Data is scattered across Hamrobazaar, property sites, and word of mouth.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1520" y="8961120"/>
            <a:ext cx="16824960" cy="914400"/>
            <a:chOff x="0" y="0"/>
            <a:chExt cx="2243328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8D9F0">
                <a:alpha val="15686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-1524" y="-1524"/>
              <a:ext cx="22436328" cy="1222248"/>
            </a:xfrm>
            <a:custGeom>
              <a:avLst/>
              <a:gdLst/>
              <a:ahLst/>
              <a:cxnLst/>
              <a:rect r="r" b="b" t="t" l="l"/>
              <a:pathLst>
                <a:path h="1222248" w="22436328">
                  <a:moveTo>
                    <a:pt x="1524" y="0"/>
                  </a:moveTo>
                  <a:lnTo>
                    <a:pt x="22434804" y="0"/>
                  </a:lnTo>
                  <a:cubicBezTo>
                    <a:pt x="22435693" y="0"/>
                    <a:pt x="22436328" y="762"/>
                    <a:pt x="22436328" y="1524"/>
                  </a:cubicBezTo>
                  <a:lnTo>
                    <a:pt x="22436328" y="1220724"/>
                  </a:lnTo>
                  <a:cubicBezTo>
                    <a:pt x="22436328" y="1221613"/>
                    <a:pt x="22435567" y="1222248"/>
                    <a:pt x="22434804" y="1222248"/>
                  </a:cubicBezTo>
                  <a:lnTo>
                    <a:pt x="1524" y="1222248"/>
                  </a:lnTo>
                  <a:cubicBezTo>
                    <a:pt x="635" y="1222248"/>
                    <a:pt x="0" y="1221486"/>
                    <a:pt x="0" y="122072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1220724"/>
                  </a:lnTo>
                  <a:lnTo>
                    <a:pt x="1524" y="1220724"/>
                  </a:lnTo>
                  <a:lnTo>
                    <a:pt x="1524" y="1219200"/>
                  </a:lnTo>
                  <a:lnTo>
                    <a:pt x="22434804" y="1219200"/>
                  </a:lnTo>
                  <a:lnTo>
                    <a:pt x="22434804" y="1220724"/>
                  </a:lnTo>
                  <a:lnTo>
                    <a:pt x="22433280" y="1220724"/>
                  </a:lnTo>
                  <a:lnTo>
                    <a:pt x="22433280" y="1524"/>
                  </a:lnTo>
                  <a:lnTo>
                    <a:pt x="22434804" y="1524"/>
                  </a:lnTo>
                  <a:lnTo>
                    <a:pt x="2243480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B8D9F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22433280" cy="127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5F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Solution: Train an ML model on real Nepal listing data to predict house prices instantly.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2103120"/>
            <a:ext cx="7863840" cy="548640"/>
            <a:chOff x="0" y="0"/>
            <a:chExt cx="104851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OFFLINE PIPELINE (run once)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92640" y="2103120"/>
            <a:ext cx="7863840" cy="548640"/>
            <a:chOff x="0" y="0"/>
            <a:chExt cx="104851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1A5F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RUNTIME (every request)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2730503"/>
            <a:ext cx="1762763" cy="1579883"/>
            <a:chOff x="0" y="0"/>
            <a:chExt cx="2350351" cy="2106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0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2089531"/>
                  </a:lnTo>
                  <a:cubicBezTo>
                    <a:pt x="2350262" y="2098929"/>
                    <a:pt x="2342642" y="2106422"/>
                    <a:pt x="2333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333371" y="2072640"/>
                  </a:lnTo>
                  <a:lnTo>
                    <a:pt x="2333371" y="2089531"/>
                  </a:lnTo>
                  <a:lnTo>
                    <a:pt x="2316480" y="2089531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743200"/>
            <a:ext cx="1737360" cy="1554480"/>
            <a:chOff x="0" y="0"/>
            <a:chExt cx="231648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16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CSV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(Kaggle)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56183" y="3507743"/>
            <a:ext cx="208283" cy="25403"/>
            <a:chOff x="0" y="0"/>
            <a:chExt cx="27771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0"/>
              <a:ext cx="243840" cy="33909"/>
            </a:xfrm>
            <a:custGeom>
              <a:avLst/>
              <a:gdLst/>
              <a:ahLst/>
              <a:cxnLst/>
              <a:rect r="r" b="b" t="t" l="l"/>
              <a:pathLst>
                <a:path h="3390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39063" y="2730503"/>
            <a:ext cx="1762763" cy="1579883"/>
            <a:chOff x="0" y="0"/>
            <a:chExt cx="2350351" cy="21065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50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2089531"/>
                  </a:lnTo>
                  <a:cubicBezTo>
                    <a:pt x="2350262" y="2098929"/>
                    <a:pt x="2342642" y="2106422"/>
                    <a:pt x="2333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333371" y="2072640"/>
                  </a:lnTo>
                  <a:lnTo>
                    <a:pt x="2333371" y="2089531"/>
                  </a:lnTo>
                  <a:lnTo>
                    <a:pt x="2316480" y="2089531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51760" y="2743200"/>
            <a:ext cx="1737360" cy="1554480"/>
            <a:chOff x="0" y="0"/>
            <a:chExt cx="2316480" cy="2072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16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prepare_data.py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+ Parse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76423" y="3507743"/>
            <a:ext cx="208283" cy="25403"/>
            <a:chOff x="0" y="0"/>
            <a:chExt cx="277711" cy="338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0"/>
              <a:ext cx="243840" cy="33909"/>
            </a:xfrm>
            <a:custGeom>
              <a:avLst/>
              <a:gdLst/>
              <a:ahLst/>
              <a:cxnLst/>
              <a:rect r="r" b="b" t="t" l="l"/>
              <a:pathLst>
                <a:path h="3390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59303" y="2730503"/>
            <a:ext cx="1762763" cy="1579883"/>
            <a:chOff x="0" y="0"/>
            <a:chExt cx="2350351" cy="21065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0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2089531"/>
                  </a:lnTo>
                  <a:cubicBezTo>
                    <a:pt x="2350262" y="2098929"/>
                    <a:pt x="2342642" y="2106422"/>
                    <a:pt x="2333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333371" y="2072640"/>
                  </a:lnTo>
                  <a:lnTo>
                    <a:pt x="2333371" y="2089531"/>
                  </a:lnTo>
                  <a:lnTo>
                    <a:pt x="2316480" y="2089531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72000" y="2743200"/>
            <a:ext cx="1737360" cy="1554480"/>
            <a:chOff x="0" y="0"/>
            <a:chExt cx="2316480" cy="2072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316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train.py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Model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296663" y="3507743"/>
            <a:ext cx="208283" cy="25403"/>
            <a:chOff x="0" y="0"/>
            <a:chExt cx="277711" cy="338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0"/>
              <a:ext cx="243840" cy="33909"/>
            </a:xfrm>
            <a:custGeom>
              <a:avLst/>
              <a:gdLst/>
              <a:ahLst/>
              <a:cxnLst/>
              <a:rect r="r" b="b" t="t" l="l"/>
              <a:pathLst>
                <a:path h="3390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79543" y="2730503"/>
            <a:ext cx="1762763" cy="1579883"/>
            <a:chOff x="0" y="0"/>
            <a:chExt cx="2350351" cy="2106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50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2089531"/>
                  </a:lnTo>
                  <a:cubicBezTo>
                    <a:pt x="2350262" y="2098929"/>
                    <a:pt x="2342642" y="2106422"/>
                    <a:pt x="2333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333371" y="2072640"/>
                  </a:lnTo>
                  <a:lnTo>
                    <a:pt x="2333371" y="2089531"/>
                  </a:lnTo>
                  <a:lnTo>
                    <a:pt x="2316480" y="2089531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92240" y="2743200"/>
            <a:ext cx="1737360" cy="1554480"/>
            <a:chOff x="0" y="0"/>
            <a:chExt cx="2316480" cy="2072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1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316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.pkl files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(saved)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79943" y="2730503"/>
            <a:ext cx="1525019" cy="1579883"/>
            <a:chOff x="0" y="0"/>
            <a:chExt cx="2033359" cy="21065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5F9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332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2089531"/>
                  </a:lnTo>
                  <a:cubicBezTo>
                    <a:pt x="2033270" y="2098929"/>
                    <a:pt x="2025650" y="2106422"/>
                    <a:pt x="20163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16379" y="2072640"/>
                  </a:lnTo>
                  <a:lnTo>
                    <a:pt x="2016379" y="2089531"/>
                  </a:lnTo>
                  <a:lnTo>
                    <a:pt x="1999488" y="2089531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92640" y="2743200"/>
            <a:ext cx="1499616" cy="1554480"/>
            <a:chOff x="0" y="0"/>
            <a:chExt cx="1999488" cy="2072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97" t="0" r="-8299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999488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Input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(browser)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179559" y="3507743"/>
            <a:ext cx="171707" cy="25403"/>
            <a:chOff x="0" y="0"/>
            <a:chExt cx="228943" cy="338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0"/>
              <a:ext cx="195072" cy="33909"/>
            </a:xfrm>
            <a:custGeom>
              <a:avLst/>
              <a:gdLst/>
              <a:ahLst/>
              <a:cxnLst/>
              <a:rect r="r" b="b" t="t" l="l"/>
              <a:pathLst>
                <a:path h="3390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325863" y="2730503"/>
            <a:ext cx="1525019" cy="1579883"/>
            <a:chOff x="0" y="0"/>
            <a:chExt cx="2033359" cy="21065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5F9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332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2089531"/>
                  </a:lnTo>
                  <a:cubicBezTo>
                    <a:pt x="2033270" y="2098929"/>
                    <a:pt x="2025650" y="2106422"/>
                    <a:pt x="20163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16379" y="2072640"/>
                  </a:lnTo>
                  <a:lnTo>
                    <a:pt x="2016379" y="2089531"/>
                  </a:lnTo>
                  <a:lnTo>
                    <a:pt x="1999488" y="2089531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338560" y="2743200"/>
            <a:ext cx="1499616" cy="1554480"/>
            <a:chOff x="0" y="0"/>
            <a:chExt cx="1999488" cy="2072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97" t="0" r="-8299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999488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/predict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825479" y="3507743"/>
            <a:ext cx="171707" cy="25403"/>
            <a:chOff x="0" y="0"/>
            <a:chExt cx="228943" cy="338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0"/>
              <a:ext cx="195072" cy="33909"/>
            </a:xfrm>
            <a:custGeom>
              <a:avLst/>
              <a:gdLst/>
              <a:ahLst/>
              <a:cxnLst/>
              <a:rect r="r" b="b" t="t" l="l"/>
              <a:pathLst>
                <a:path h="3390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971783" y="2730503"/>
            <a:ext cx="1525019" cy="1579883"/>
            <a:chOff x="0" y="0"/>
            <a:chExt cx="2033359" cy="21065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5F96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332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2089531"/>
                  </a:lnTo>
                  <a:cubicBezTo>
                    <a:pt x="2033270" y="2098929"/>
                    <a:pt x="2025650" y="2106422"/>
                    <a:pt x="20163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16379" y="2072640"/>
                  </a:lnTo>
                  <a:lnTo>
                    <a:pt x="2016379" y="2089531"/>
                  </a:lnTo>
                  <a:lnTo>
                    <a:pt x="1999488" y="2089531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898626" y="2730503"/>
            <a:ext cx="1658626" cy="1554480"/>
            <a:chOff x="0" y="0"/>
            <a:chExt cx="2211502" cy="2072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11502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11502">
                  <a:moveTo>
                    <a:pt x="0" y="0"/>
                  </a:moveTo>
                  <a:lnTo>
                    <a:pt x="2211502" y="0"/>
                  </a:lnTo>
                  <a:lnTo>
                    <a:pt x="221150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040" t="0" r="-6545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1150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LocationResolver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5-step match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471399" y="3507743"/>
            <a:ext cx="171707" cy="25403"/>
            <a:chOff x="0" y="0"/>
            <a:chExt cx="228943" cy="338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0"/>
              <a:ext cx="195072" cy="33909"/>
            </a:xfrm>
            <a:custGeom>
              <a:avLst/>
              <a:gdLst/>
              <a:ahLst/>
              <a:cxnLst/>
              <a:rect r="r" b="b" t="t" l="l"/>
              <a:pathLst>
                <a:path h="3390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17703" y="2730503"/>
            <a:ext cx="1525019" cy="1579883"/>
            <a:chOff x="0" y="0"/>
            <a:chExt cx="2033359" cy="21065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5F96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332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2089531"/>
                  </a:lnTo>
                  <a:cubicBezTo>
                    <a:pt x="2033270" y="2098929"/>
                    <a:pt x="2025650" y="2106422"/>
                    <a:pt x="20163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16379" y="2072640"/>
                  </a:lnTo>
                  <a:lnTo>
                    <a:pt x="2016379" y="2089531"/>
                  </a:lnTo>
                  <a:lnTo>
                    <a:pt x="1999488" y="2089531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630400" y="2743200"/>
            <a:ext cx="1499616" cy="1554480"/>
            <a:chOff x="0" y="0"/>
            <a:chExt cx="1999488" cy="2072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97" t="0" r="-8299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999488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GBR Model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predict()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117319" y="3507743"/>
            <a:ext cx="171707" cy="25403"/>
            <a:chOff x="0" y="0"/>
            <a:chExt cx="228943" cy="338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0"/>
              <a:ext cx="195072" cy="33909"/>
            </a:xfrm>
            <a:custGeom>
              <a:avLst/>
              <a:gdLst/>
              <a:ahLst/>
              <a:cxnLst/>
              <a:rect r="r" b="b" t="t" l="l"/>
              <a:pathLst>
                <a:path h="3390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263623" y="2730503"/>
            <a:ext cx="1525019" cy="1579883"/>
            <a:chOff x="0" y="0"/>
            <a:chExt cx="2033359" cy="21065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5F96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332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2089531"/>
                  </a:lnTo>
                  <a:cubicBezTo>
                    <a:pt x="2033270" y="2098929"/>
                    <a:pt x="2025650" y="2106422"/>
                    <a:pt x="20163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16379" y="2072640"/>
                  </a:lnTo>
                  <a:lnTo>
                    <a:pt x="2016379" y="2089531"/>
                  </a:lnTo>
                  <a:lnTo>
                    <a:pt x="1999488" y="2089531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276320" y="2743200"/>
            <a:ext cx="1499616" cy="1554480"/>
            <a:chOff x="0" y="0"/>
            <a:chExt cx="1999488" cy="2072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994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97" t="0" r="-82997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999488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displayed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462023" y="4284983"/>
            <a:ext cx="25403" cy="1305563"/>
            <a:chOff x="0" y="0"/>
            <a:chExt cx="33871" cy="17407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16891"/>
              <a:ext cx="33909" cy="1707007"/>
            </a:xfrm>
            <a:custGeom>
              <a:avLst/>
              <a:gdLst/>
              <a:ahLst/>
              <a:cxnLst/>
              <a:rect r="r" b="b" t="t" l="l"/>
              <a:pathLst>
                <a:path h="1707007" w="33909">
                  <a:moveTo>
                    <a:pt x="33909" y="237109"/>
                  </a:moveTo>
                  <a:lnTo>
                    <a:pt x="33909" y="338709"/>
                  </a:lnTo>
                  <a:lnTo>
                    <a:pt x="0" y="338709"/>
                  </a:lnTo>
                  <a:lnTo>
                    <a:pt x="0" y="237109"/>
                  </a:lnTo>
                  <a:close/>
                  <a:moveTo>
                    <a:pt x="0" y="474218"/>
                  </a:moveTo>
                  <a:lnTo>
                    <a:pt x="0" y="575818"/>
                  </a:lnTo>
                  <a:lnTo>
                    <a:pt x="0" y="474218"/>
                  </a:lnTo>
                  <a:close/>
                  <a:moveTo>
                    <a:pt x="0" y="711327"/>
                  </a:moveTo>
                  <a:lnTo>
                    <a:pt x="0" y="812927"/>
                  </a:lnTo>
                  <a:lnTo>
                    <a:pt x="0" y="711327"/>
                  </a:lnTo>
                  <a:close/>
                  <a:moveTo>
                    <a:pt x="33909" y="948309"/>
                  </a:moveTo>
                  <a:lnTo>
                    <a:pt x="33909" y="1049909"/>
                  </a:lnTo>
                  <a:lnTo>
                    <a:pt x="0" y="1049909"/>
                  </a:lnTo>
                  <a:lnTo>
                    <a:pt x="0" y="948309"/>
                  </a:lnTo>
                  <a:close/>
                  <a:moveTo>
                    <a:pt x="0" y="1185418"/>
                  </a:moveTo>
                  <a:lnTo>
                    <a:pt x="0" y="1287018"/>
                  </a:lnTo>
                  <a:lnTo>
                    <a:pt x="0" y="1185418"/>
                  </a:lnTo>
                  <a:close/>
                  <a:moveTo>
                    <a:pt x="0" y="1422527"/>
                  </a:moveTo>
                  <a:lnTo>
                    <a:pt x="0" y="1524127"/>
                  </a:lnTo>
                  <a:lnTo>
                    <a:pt x="0" y="1422527"/>
                  </a:lnTo>
                  <a:close/>
                  <a:moveTo>
                    <a:pt x="0" y="1659636"/>
                  </a:moveTo>
                  <a:lnTo>
                    <a:pt x="0" y="1707007"/>
                  </a:lnTo>
                  <a:lnTo>
                    <a:pt x="0" y="1659509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743200" y="5394960"/>
            <a:ext cx="2560320" cy="640080"/>
            <a:chOff x="0" y="0"/>
            <a:chExt cx="341376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413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loaded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startup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31520" y="6492240"/>
            <a:ext cx="2194560" cy="548640"/>
            <a:chOff x="0" y="0"/>
            <a:chExt cx="292608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926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files: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18823" y="7028183"/>
            <a:ext cx="8072123" cy="976379"/>
            <a:chOff x="0" y="0"/>
            <a:chExt cx="10762831" cy="130183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84859"/>
                  </a:lnTo>
                  <a:cubicBezTo>
                    <a:pt x="10762742" y="1294257"/>
                    <a:pt x="10755122" y="1301750"/>
                    <a:pt x="107458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745851" y="1267968"/>
                  </a:lnTo>
                  <a:lnTo>
                    <a:pt x="10745851" y="1284859"/>
                  </a:lnTo>
                  <a:lnTo>
                    <a:pt x="10728960" y="128485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50976" y="7114032"/>
            <a:ext cx="2743200" cy="402336"/>
            <a:chOff x="0" y="0"/>
            <a:chExt cx="365760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prepare_data.py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749040" y="7114032"/>
            <a:ext cx="4846320" cy="768096"/>
            <a:chOff x="0" y="0"/>
            <a:chExt cx="6461760" cy="10241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461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1" r="0" b="-7294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4617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Parses raw CSV, imputes missing values, removes outliers, saves clean data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497063" y="7028183"/>
            <a:ext cx="8072123" cy="976379"/>
            <a:chOff x="0" y="0"/>
            <a:chExt cx="10762831" cy="130183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84859"/>
                  </a:lnTo>
                  <a:cubicBezTo>
                    <a:pt x="10762742" y="1294257"/>
                    <a:pt x="10755122" y="1301750"/>
                    <a:pt x="107458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745851" y="1267968"/>
                  </a:lnTo>
                  <a:lnTo>
                    <a:pt x="10745851" y="1284859"/>
                  </a:lnTo>
                  <a:lnTo>
                    <a:pt x="10728960" y="128485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729216" y="7114032"/>
            <a:ext cx="2743200" cy="402336"/>
            <a:chOff x="0" y="0"/>
            <a:chExt cx="3657600" cy="5364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train.py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527280" y="7114032"/>
            <a:ext cx="4846320" cy="768096"/>
            <a:chOff x="0" y="0"/>
            <a:chExt cx="6461760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61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1" r="0" b="-7294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4617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engineering, log-transform price, K-fold CV, trains GBR, saves .pkl files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18823" y="8216903"/>
            <a:ext cx="8072123" cy="976379"/>
            <a:chOff x="0" y="0"/>
            <a:chExt cx="10762831" cy="130183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84859"/>
                  </a:lnTo>
                  <a:cubicBezTo>
                    <a:pt x="10762742" y="1294257"/>
                    <a:pt x="10755122" y="1301750"/>
                    <a:pt x="107458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745851" y="1267968"/>
                  </a:lnTo>
                  <a:lnTo>
                    <a:pt x="10745851" y="1284859"/>
                  </a:lnTo>
                  <a:lnTo>
                    <a:pt x="10728960" y="128485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50976" y="8302752"/>
            <a:ext cx="2743200" cy="402336"/>
            <a:chOff x="0" y="0"/>
            <a:chExt cx="3657600" cy="53644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app.py + Flask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749040" y="8302752"/>
            <a:ext cx="4846320" cy="768096"/>
            <a:chOff x="0" y="0"/>
            <a:chExt cx="6461760" cy="102412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461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1" r="0" b="-7294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4617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server, loads model once at startup, exposes /predict JSON endpoint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497063" y="8216903"/>
            <a:ext cx="8072123" cy="976379"/>
            <a:chOff x="0" y="0"/>
            <a:chExt cx="10762831" cy="130183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7627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84859"/>
                  </a:lnTo>
                  <a:cubicBezTo>
                    <a:pt x="10762742" y="1294257"/>
                    <a:pt x="10755122" y="1301750"/>
                    <a:pt x="107458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745851" y="1267968"/>
                  </a:lnTo>
                  <a:lnTo>
                    <a:pt x="10745851" y="1284859"/>
                  </a:lnTo>
                  <a:lnTo>
                    <a:pt x="10728960" y="128485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729216" y="8302752"/>
            <a:ext cx="2743200" cy="402336"/>
            <a:chOff x="0" y="0"/>
            <a:chExt cx="3657600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location_resolver.py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527280" y="8302752"/>
            <a:ext cx="4846320" cy="768096"/>
            <a:chOff x="0" y="0"/>
            <a:chExt cx="6461760" cy="102412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461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1" r="0" b="-7294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64617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5-step location matching: exact → alias → fuzzy → GPS → fallback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Pipeline : prepare_data.py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181863"/>
            <a:ext cx="8072123" cy="2183387"/>
            <a:chOff x="0" y="0"/>
            <a:chExt cx="10762831" cy="2911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2181863"/>
            <a:ext cx="8072123" cy="665483"/>
            <a:chOff x="0" y="0"/>
            <a:chExt cx="10762831" cy="887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267712"/>
            <a:ext cx="7680960" cy="512064"/>
            <a:chOff x="0" y="0"/>
            <a:chExt cx="10241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 Load raw CSV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926080"/>
            <a:ext cx="7680960" cy="1316736"/>
            <a:chOff x="0" y="0"/>
            <a:chExt cx="10241280" cy="17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kaggle_nepal.csv - mix of sale &amp; rental, inconsistent price formats (Lakh, Crore, /month), location strings like 'Baneshwor, Kathmandu'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7063" y="2181863"/>
            <a:ext cx="8072123" cy="2183387"/>
            <a:chOff x="0" y="0"/>
            <a:chExt cx="10762831" cy="29111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7063" y="2181863"/>
            <a:ext cx="8072123" cy="665483"/>
            <a:chOff x="0" y="0"/>
            <a:chExt cx="10762831" cy="887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92640" y="2267712"/>
            <a:ext cx="7680960" cy="512064"/>
            <a:chOff x="0" y="0"/>
            <a:chExt cx="102412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 Filter rentals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2640" y="2926080"/>
            <a:ext cx="7680960" cy="1316736"/>
            <a:chOff x="0" y="0"/>
            <a:chExt cx="1024128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 rows where price string contains '/m' or 'per month' - these are rental prices, not sale prices. Keep only TITLE contains 'sale'.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4650743"/>
            <a:ext cx="8072123" cy="2183387"/>
            <a:chOff x="0" y="0"/>
            <a:chExt cx="10762831" cy="29111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4650743"/>
            <a:ext cx="8072123" cy="665483"/>
            <a:chOff x="0" y="0"/>
            <a:chExt cx="10762831" cy="887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736592"/>
            <a:ext cx="7680960" cy="512064"/>
            <a:chOff x="0" y="0"/>
            <a:chExt cx="102412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 Parse &amp; convert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5394960"/>
            <a:ext cx="7680960" cy="1316736"/>
            <a:chOff x="0" y="0"/>
            <a:chExt cx="10241280" cy="17556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parse_price(): '1.5 Cr' → 15,000,000 NPR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parse_road(): '10-15 Feet' → average 12.5 ft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parse_location(): split 'Baneshwor, KTM' → location + city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97063" y="4650743"/>
            <a:ext cx="8072123" cy="2183387"/>
            <a:chOff x="0" y="0"/>
            <a:chExt cx="10762831" cy="29111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7063" y="4650743"/>
            <a:ext cx="8072123" cy="665483"/>
            <a:chOff x="0" y="0"/>
            <a:chExt cx="10762831" cy="887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92640" y="4736592"/>
            <a:ext cx="7680960" cy="512064"/>
            <a:chOff x="0" y="0"/>
            <a:chExt cx="1024128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 Impute missing values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5394960"/>
            <a:ext cx="7680960" cy="1316736"/>
            <a:chOff x="0" y="0"/>
            <a:chExt cx="10241280" cy="1755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BHK / Bathrooms / Floors: fill from location median → global median. Road width: location median → 12ft default. Avoids dropping premium-area listings.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8823" y="7119623"/>
            <a:ext cx="8072123" cy="2183387"/>
            <a:chOff x="0" y="0"/>
            <a:chExt cx="10762831" cy="29111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7119623"/>
            <a:ext cx="8072123" cy="665483"/>
            <a:chOff x="0" y="0"/>
            <a:chExt cx="10762831" cy="887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7205472"/>
            <a:ext cx="7680960" cy="512064"/>
            <a:chOff x="0" y="0"/>
            <a:chExt cx="102412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 Remove outliers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7863840"/>
            <a:ext cx="7680960" cy="1316736"/>
            <a:chOff x="0" y="0"/>
            <a:chExt cx="10241280" cy="17556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Price: NPR 1M–500M | Area: 0.5–50 Anna | BHK: 1–15 | Road: 4–100ft | Bathrooms ≤ BHK+3 | Price/anna ≤ 99th percentile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7063" y="7119623"/>
            <a:ext cx="8072123" cy="2183387"/>
            <a:chOff x="0" y="0"/>
            <a:chExt cx="10762831" cy="291118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62742" cy="2911094"/>
            </a:xfrm>
            <a:custGeom>
              <a:avLst/>
              <a:gdLst/>
              <a:ahLst/>
              <a:cxnLst/>
              <a:rect r="r" b="b" t="t" l="l"/>
              <a:pathLst>
                <a:path h="291109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94203"/>
                  </a:lnTo>
                  <a:cubicBezTo>
                    <a:pt x="10762742" y="2903601"/>
                    <a:pt x="10755122" y="2911094"/>
                    <a:pt x="1074585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10745851" y="2877312"/>
                  </a:lnTo>
                  <a:lnTo>
                    <a:pt x="10745851" y="2894203"/>
                  </a:lnTo>
                  <a:lnTo>
                    <a:pt x="10728960" y="289420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97063" y="7119623"/>
            <a:ext cx="8072123" cy="665483"/>
            <a:chOff x="0" y="0"/>
            <a:chExt cx="10762831" cy="8873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62742" cy="887224"/>
            </a:xfrm>
            <a:custGeom>
              <a:avLst/>
              <a:gdLst/>
              <a:ahLst/>
              <a:cxnLst/>
              <a:rect r="r" b="b" t="t" l="l"/>
              <a:pathLst>
                <a:path h="88722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870331"/>
                  </a:lnTo>
                  <a:cubicBezTo>
                    <a:pt x="10762742" y="879729"/>
                    <a:pt x="10755122" y="887222"/>
                    <a:pt x="10745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745851" y="853440"/>
                  </a:lnTo>
                  <a:lnTo>
                    <a:pt x="10745851" y="870331"/>
                  </a:lnTo>
                  <a:lnTo>
                    <a:pt x="10728960" y="8703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92640" y="7205472"/>
            <a:ext cx="7680960" cy="512064"/>
            <a:chOff x="0" y="0"/>
            <a:chExt cx="102412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 Save clean data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863840"/>
            <a:ext cx="7680960" cy="1316736"/>
            <a:chOff x="0" y="0"/>
            <a:chExt cx="10241280" cy="17556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24128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nepal_house_data.csv - used as input to train.py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25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945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ML Model — Gradient Boosting Regressor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2011680"/>
            <a:ext cx="10058400" cy="640080"/>
            <a:chOff x="0" y="0"/>
            <a:chExt cx="134112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11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Gradient Boosting?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651760"/>
            <a:ext cx="10058400" cy="1280160"/>
            <a:chOff x="0" y="0"/>
            <a:chExt cx="134112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11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Builds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 small decision trees</a:t>
              </a:r>
              <a:r>
                <a:rPr lang="en-US" sz="24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one at a time. Each new tree corrects the errors of the previous ones. Final prediction = sum of all trees.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4023360"/>
            <a:ext cx="10058400" cy="548640"/>
            <a:chOff x="0" y="0"/>
            <a:chExt cx="13411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Hyperparameters used: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4650743"/>
            <a:ext cx="10083803" cy="720347"/>
            <a:chOff x="0" y="0"/>
            <a:chExt cx="1344507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3411199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4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43483"/>
                  </a:lnTo>
                  <a:cubicBezTo>
                    <a:pt x="13444982" y="952881"/>
                    <a:pt x="13437363" y="960374"/>
                    <a:pt x="134280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3428090" y="926592"/>
                  </a:lnTo>
                  <a:lnTo>
                    <a:pt x="13428090" y="943483"/>
                  </a:lnTo>
                  <a:lnTo>
                    <a:pt x="13411200" y="94348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4754880"/>
            <a:ext cx="4023360" cy="512064"/>
            <a:chOff x="0" y="0"/>
            <a:chExt cx="53644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A8FD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n_estimators = 500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0" y="4754880"/>
            <a:ext cx="5486400" cy="512064"/>
            <a:chOff x="0" y="0"/>
            <a:chExt cx="731520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trees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5510279"/>
            <a:ext cx="10083803" cy="720347"/>
            <a:chOff x="0" y="0"/>
            <a:chExt cx="1344507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3411199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44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43483"/>
                  </a:lnTo>
                  <a:cubicBezTo>
                    <a:pt x="13444982" y="952881"/>
                    <a:pt x="13437363" y="960374"/>
                    <a:pt x="134280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3428090" y="926592"/>
                  </a:lnTo>
                  <a:lnTo>
                    <a:pt x="13428090" y="943483"/>
                  </a:lnTo>
                  <a:lnTo>
                    <a:pt x="13411200" y="94348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614416"/>
            <a:ext cx="4023360" cy="512064"/>
            <a:chOff x="0" y="0"/>
            <a:chExt cx="53644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A8FD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learning_rate = 0.03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0640" y="5614416"/>
            <a:ext cx="5486400" cy="512064"/>
            <a:chOff x="0" y="0"/>
            <a:chExt cx="73152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= more stable, less overfit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6369815"/>
            <a:ext cx="10083803" cy="720347"/>
            <a:chOff x="0" y="0"/>
            <a:chExt cx="13445071" cy="960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3411199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44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43483"/>
                  </a:lnTo>
                  <a:cubicBezTo>
                    <a:pt x="13444982" y="952881"/>
                    <a:pt x="13437363" y="960374"/>
                    <a:pt x="134280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3428090" y="926592"/>
                  </a:lnTo>
                  <a:lnTo>
                    <a:pt x="13428090" y="943483"/>
                  </a:lnTo>
                  <a:lnTo>
                    <a:pt x="13411200" y="94348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6473952"/>
            <a:ext cx="4023360" cy="512064"/>
            <a:chOff x="0" y="0"/>
            <a:chExt cx="53644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A8FD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max_depth = 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20640" y="6473952"/>
            <a:ext cx="5486400" cy="512064"/>
            <a:chOff x="0" y="0"/>
            <a:chExt cx="73152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Shallow trees prevent memorising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7229351"/>
            <a:ext cx="10083803" cy="720347"/>
            <a:chOff x="0" y="0"/>
            <a:chExt cx="13445071" cy="9604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3411199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44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43483"/>
                  </a:lnTo>
                  <a:cubicBezTo>
                    <a:pt x="13444982" y="952881"/>
                    <a:pt x="13437363" y="960374"/>
                    <a:pt x="134280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3428090" y="926592"/>
                  </a:lnTo>
                  <a:lnTo>
                    <a:pt x="13428090" y="943483"/>
                  </a:lnTo>
                  <a:lnTo>
                    <a:pt x="13411200" y="94348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333488"/>
            <a:ext cx="4023360" cy="512064"/>
            <a:chOff x="0" y="0"/>
            <a:chExt cx="53644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A8FD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subsample = 0.8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120640" y="7333488"/>
            <a:ext cx="5486400" cy="512064"/>
            <a:chOff x="0" y="0"/>
            <a:chExt cx="73152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each tree on 80% of rows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8088887"/>
            <a:ext cx="10083803" cy="720347"/>
            <a:chOff x="0" y="0"/>
            <a:chExt cx="13445071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3411199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444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43483"/>
                  </a:lnTo>
                  <a:cubicBezTo>
                    <a:pt x="13444982" y="952881"/>
                    <a:pt x="13437363" y="960374"/>
                    <a:pt x="134280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3428090" y="926592"/>
                  </a:lnTo>
                  <a:lnTo>
                    <a:pt x="13428090" y="943483"/>
                  </a:lnTo>
                  <a:lnTo>
                    <a:pt x="13411200" y="94348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8193024"/>
            <a:ext cx="4023360" cy="512064"/>
            <a:chOff x="0" y="0"/>
            <a:chExt cx="53644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A8FD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max_features = 0.6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120640" y="8193024"/>
            <a:ext cx="5486400" cy="512064"/>
            <a:chOff x="0" y="0"/>
            <a:chExt cx="73152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tree sees 60% of features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338560" y="2011680"/>
            <a:ext cx="6400800" cy="640080"/>
            <a:chOff x="0" y="0"/>
            <a:chExt cx="85344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GBR and not...?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25863" y="2730503"/>
            <a:ext cx="6426203" cy="1525019"/>
            <a:chOff x="0" y="0"/>
            <a:chExt cx="8568271" cy="20333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85344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681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2016379"/>
                  </a:lnTo>
                  <a:cubicBezTo>
                    <a:pt x="8568182" y="2025777"/>
                    <a:pt x="8560562" y="2033270"/>
                    <a:pt x="85512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551291" y="1999488"/>
                  </a:lnTo>
                  <a:lnTo>
                    <a:pt x="8551291" y="2016379"/>
                  </a:lnTo>
                  <a:lnTo>
                    <a:pt x="8534400" y="201637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521440" y="2834640"/>
            <a:ext cx="6035040" cy="512064"/>
            <a:chOff x="0" y="0"/>
            <a:chExt cx="804672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0467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Regression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521440" y="3328416"/>
            <a:ext cx="6035040" cy="731520"/>
            <a:chOff x="0" y="0"/>
            <a:chExt cx="804672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046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 simple - can't capture Naxal premium or area-location interactions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25863" y="4449575"/>
            <a:ext cx="6426203" cy="1525019"/>
            <a:chOff x="0" y="0"/>
            <a:chExt cx="8568271" cy="20333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85344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5681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2016379"/>
                  </a:lnTo>
                  <a:cubicBezTo>
                    <a:pt x="8568182" y="2025777"/>
                    <a:pt x="8560562" y="2033270"/>
                    <a:pt x="85512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551291" y="1999488"/>
                  </a:lnTo>
                  <a:lnTo>
                    <a:pt x="8551291" y="2016379"/>
                  </a:lnTo>
                  <a:lnTo>
                    <a:pt x="8534400" y="201637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521440" y="4553712"/>
            <a:ext cx="6035040" cy="512064"/>
            <a:chOff x="0" y="0"/>
            <a:chExt cx="804672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80467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521440" y="5047488"/>
            <a:ext cx="6035040" cy="731520"/>
            <a:chOff x="0" y="0"/>
            <a:chExt cx="804672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046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far more data. GBR wins on &lt;1000 rows structured data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325863" y="6168647"/>
            <a:ext cx="6426203" cy="1525019"/>
            <a:chOff x="0" y="0"/>
            <a:chExt cx="8568271" cy="203335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85344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681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2016379"/>
                  </a:lnTo>
                  <a:cubicBezTo>
                    <a:pt x="8568182" y="2025777"/>
                    <a:pt x="8560562" y="2033270"/>
                    <a:pt x="85512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551291" y="1999488"/>
                  </a:lnTo>
                  <a:lnTo>
                    <a:pt x="8551291" y="2016379"/>
                  </a:lnTo>
                  <a:lnTo>
                    <a:pt x="8534400" y="201637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521440" y="6272784"/>
            <a:ext cx="6035040" cy="512064"/>
            <a:chOff x="0" y="0"/>
            <a:chExt cx="804672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80467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521440" y="6766560"/>
            <a:ext cx="6035040" cy="731520"/>
            <a:chOff x="0" y="0"/>
            <a:chExt cx="804672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046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alternative. GBR is more accurate - corrects errors iteratively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325863" y="7887719"/>
            <a:ext cx="6426203" cy="1525019"/>
            <a:chOff x="0" y="0"/>
            <a:chExt cx="8568271" cy="203335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85344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681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2016379"/>
                  </a:lnTo>
                  <a:cubicBezTo>
                    <a:pt x="8568182" y="2025777"/>
                    <a:pt x="8560562" y="2033270"/>
                    <a:pt x="85512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551291" y="1999488"/>
                  </a:lnTo>
                  <a:lnTo>
                    <a:pt x="8551291" y="2016379"/>
                  </a:lnTo>
                  <a:lnTo>
                    <a:pt x="8534400" y="201637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521440" y="7991856"/>
            <a:ext cx="6035040" cy="512064"/>
            <a:chOff x="0" y="0"/>
            <a:chExt cx="804672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80467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Single Decision Tree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521440" y="8485632"/>
            <a:ext cx="6035040" cy="731520"/>
            <a:chOff x="0" y="0"/>
            <a:chExt cx="8046720" cy="975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0467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variance, overfits. GBR uses 500 small trees - much more robust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&amp; Key Concepts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090423"/>
            <a:ext cx="8072123" cy="2037083"/>
            <a:chOff x="0" y="0"/>
            <a:chExt cx="10762831" cy="2716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2090423"/>
            <a:ext cx="8072123" cy="153419"/>
            <a:chOff x="0" y="0"/>
            <a:chExt cx="10762831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0976" y="2322576"/>
            <a:ext cx="5120640" cy="548640"/>
            <a:chOff x="0" y="0"/>
            <a:chExt cx="68275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loc_land_rate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0" y="2340864"/>
            <a:ext cx="2194560" cy="457200"/>
            <a:chOff x="0" y="0"/>
            <a:chExt cx="292608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2944368"/>
            <a:ext cx="7680960" cy="1060704"/>
            <a:chOff x="0" y="0"/>
            <a:chExt cx="1024128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 price per Anna for that neighbourhood. Most important feature - encodes the 'Naxal premium' directly.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7063" y="2090423"/>
            <a:ext cx="8072123" cy="2037083"/>
            <a:chOff x="0" y="0"/>
            <a:chExt cx="10762831" cy="2716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97063" y="2090423"/>
            <a:ext cx="8072123" cy="153419"/>
            <a:chOff x="0" y="0"/>
            <a:chExt cx="10762831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29216" y="2322576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city_land_rate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179040" y="2340864"/>
            <a:ext cx="2194560" cy="457200"/>
            <a:chOff x="0" y="0"/>
            <a:chExt cx="292608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29216" y="2944368"/>
            <a:ext cx="7680960" cy="1060704"/>
            <a:chOff x="0" y="0"/>
            <a:chExt cx="10241280" cy="14142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 price per Anna for the city. Used when neighbourhood rate is unavailable.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4467863"/>
            <a:ext cx="8072123" cy="2037083"/>
            <a:chOff x="0" y="0"/>
            <a:chExt cx="10762831" cy="2716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8823" y="4467863"/>
            <a:ext cx="8072123" cy="153419"/>
            <a:chOff x="0" y="0"/>
            <a:chExt cx="10762831" cy="204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0976" y="4700016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BHK_per_Anna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400800" y="4718304"/>
            <a:ext cx="2194560" cy="457200"/>
            <a:chOff x="0" y="0"/>
            <a:chExt cx="292608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Derived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0976" y="5321808"/>
            <a:ext cx="7680960" cy="1060704"/>
            <a:chOff x="0" y="0"/>
            <a:chExt cx="10241280" cy="14142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BHK ÷ Area. Captures density - a 5BHK on 2 anna is very different to 5BHK on 10 anna.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97063" y="4467863"/>
            <a:ext cx="8072123" cy="2037083"/>
            <a:chOff x="0" y="0"/>
            <a:chExt cx="10762831" cy="27161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97063" y="4467863"/>
            <a:ext cx="8072123" cy="153419"/>
            <a:chOff x="0" y="0"/>
            <a:chExt cx="10762831" cy="2045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29216" y="4700016"/>
            <a:ext cx="5120640" cy="548640"/>
            <a:chOff x="0" y="0"/>
            <a:chExt cx="682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Area_x_Floors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179040" y="4718304"/>
            <a:ext cx="2194560" cy="457200"/>
            <a:chOff x="0" y="0"/>
            <a:chExt cx="292608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Derived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29216" y="5321808"/>
            <a:ext cx="7680960" cy="1060704"/>
            <a:chOff x="0" y="0"/>
            <a:chExt cx="10241280" cy="14142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 × Floors. Proxy for total built-up area - a key driver of construction cost.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18823" y="6845303"/>
            <a:ext cx="8072123" cy="2037083"/>
            <a:chOff x="0" y="0"/>
            <a:chExt cx="10762831" cy="27161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18823" y="6845303"/>
            <a:ext cx="8072123" cy="153419"/>
            <a:chOff x="0" y="0"/>
            <a:chExt cx="10762831" cy="2045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0976" y="7077456"/>
            <a:ext cx="5120640" cy="548640"/>
            <a:chOff x="0" y="0"/>
            <a:chExt cx="6827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Road_x_Area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00800" y="7095744"/>
            <a:ext cx="2194560" cy="457200"/>
            <a:chOff x="0" y="0"/>
            <a:chExt cx="292608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Derived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0976" y="7699248"/>
            <a:ext cx="7680960" cy="1060704"/>
            <a:chOff x="0" y="0"/>
            <a:chExt cx="10241280" cy="14142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 width × Area. Wider roads increase value. Interaction with area captures compound effect.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97063" y="6845303"/>
            <a:ext cx="8072123" cy="2037083"/>
            <a:chOff x="0" y="0"/>
            <a:chExt cx="10762831" cy="27161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497063" y="6845303"/>
            <a:ext cx="8072123" cy="153419"/>
            <a:chOff x="0" y="0"/>
            <a:chExt cx="10762831" cy="20455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67E2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29216" y="7077456"/>
            <a:ext cx="5120640" cy="548640"/>
            <a:chOff x="0" y="0"/>
            <a:chExt cx="6827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Location_X (OHE)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179040" y="7095744"/>
            <a:ext cx="2194560" cy="457200"/>
            <a:chOff x="0" y="0"/>
            <a:chExt cx="292608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92608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E67E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Categorical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729216" y="7699248"/>
            <a:ext cx="7680960" cy="1060704"/>
            <a:chOff x="0" y="0"/>
            <a:chExt cx="10241280" cy="141427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One-hot encoded - one binary column per location (~50 columns). 1 if property is in that location, 0 otherwise.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18823" y="9314183"/>
            <a:ext cx="16850363" cy="720347"/>
            <a:chOff x="0" y="0"/>
            <a:chExt cx="22467151" cy="9604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467063" cy="960376"/>
            </a:xfrm>
            <a:custGeom>
              <a:avLst/>
              <a:gdLst/>
              <a:ahLst/>
              <a:cxnLst/>
              <a:rect r="r" b="b" t="t" l="l"/>
              <a:pathLst>
                <a:path h="96037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943483"/>
                  </a:lnTo>
                  <a:cubicBezTo>
                    <a:pt x="22467063" y="952881"/>
                    <a:pt x="22459443" y="960374"/>
                    <a:pt x="22450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450171" y="926592"/>
                  </a:lnTo>
                  <a:lnTo>
                    <a:pt x="22450171" y="943483"/>
                  </a:lnTo>
                  <a:lnTo>
                    <a:pt x="22433280" y="94348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14400" y="9381744"/>
            <a:ext cx="16459200" cy="585216"/>
            <a:chOff x="0" y="0"/>
            <a:chExt cx="21945600" cy="7802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1945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Log-transform: np.log(Price_NPR) used as target. Fixes right-skewed price distribution → model predicts proportional differences, not raw NPR.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 Intelligence - LocationResolver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920240"/>
            <a:ext cx="16824960" cy="640080"/>
            <a:chOff x="0" y="0"/>
            <a:chExt cx="2243328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5-step resolution cascade — handles typos, alternate spellings, and unknown places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730503"/>
            <a:ext cx="16850363" cy="1214123"/>
            <a:chOff x="0" y="0"/>
            <a:chExt cx="2246715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730503"/>
            <a:ext cx="939803" cy="1214123"/>
            <a:chOff x="0" y="0"/>
            <a:chExt cx="1253071" cy="1618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2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601851"/>
                  </a:lnTo>
                  <a:cubicBezTo>
                    <a:pt x="1252982" y="1611249"/>
                    <a:pt x="1245362" y="1618742"/>
                    <a:pt x="1236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236091" y="1584960"/>
                  </a:lnTo>
                  <a:lnTo>
                    <a:pt x="1236091" y="1601851"/>
                  </a:lnTo>
                  <a:lnTo>
                    <a:pt x="1219200" y="160185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743200"/>
            <a:ext cx="914400" cy="1188720"/>
            <a:chOff x="0" y="0"/>
            <a:chExt cx="121920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19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240" y="2871216"/>
            <a:ext cx="4023360" cy="457200"/>
            <a:chOff x="0" y="0"/>
            <a:chExt cx="536448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644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Exact match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3346704"/>
            <a:ext cx="10607040" cy="457200"/>
            <a:chOff x="0" y="0"/>
            <a:chExt cx="1414272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"Baneshwor" → found directly in model columns → done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03303" y="2986535"/>
            <a:ext cx="3683003" cy="647195"/>
            <a:chOff x="0" y="0"/>
            <a:chExt cx="4910671" cy="8629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8D9F0">
                <a:alpha val="3568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10582" cy="862840"/>
            </a:xfrm>
            <a:custGeom>
              <a:avLst/>
              <a:gdLst/>
              <a:ahLst/>
              <a:cxnLst/>
              <a:rect r="r" b="b" t="t" l="l"/>
              <a:pathLst>
                <a:path h="86284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845947"/>
                  </a:lnTo>
                  <a:cubicBezTo>
                    <a:pt x="4910582" y="855345"/>
                    <a:pt x="4902962" y="862838"/>
                    <a:pt x="489369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4893691" y="829056"/>
                  </a:lnTo>
                  <a:lnTo>
                    <a:pt x="4893691" y="845947"/>
                  </a:lnTo>
                  <a:lnTo>
                    <a:pt x="4876800" y="84594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716000" y="2999232"/>
            <a:ext cx="3657600" cy="621792"/>
            <a:chOff x="0" y="0"/>
            <a:chExt cx="487680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768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5F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dict lookup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4138679"/>
            <a:ext cx="16850363" cy="1214123"/>
            <a:chOff x="0" y="0"/>
            <a:chExt cx="22467151" cy="1618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4138679"/>
            <a:ext cx="939803" cy="1214123"/>
            <a:chOff x="0" y="0"/>
            <a:chExt cx="1253071" cy="1618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2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601851"/>
                  </a:lnTo>
                  <a:cubicBezTo>
                    <a:pt x="1252982" y="1611249"/>
                    <a:pt x="1245362" y="1618742"/>
                    <a:pt x="1236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236091" y="1584960"/>
                  </a:lnTo>
                  <a:lnTo>
                    <a:pt x="1236091" y="1601851"/>
                  </a:lnTo>
                  <a:lnTo>
                    <a:pt x="1219200" y="160185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4151376"/>
            <a:ext cx="914400" cy="1188720"/>
            <a:chOff x="0" y="0"/>
            <a:chExt cx="121920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219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20240" y="4279392"/>
            <a:ext cx="4023360" cy="457200"/>
            <a:chOff x="0" y="0"/>
            <a:chExt cx="536448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3644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Alias lookup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0240" y="4754880"/>
            <a:ext cx="10607040" cy="457200"/>
            <a:chOff x="0" y="0"/>
            <a:chExt cx="1414272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"boudha" → ALIASES dict → "Budhanilkantha"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03303" y="4394711"/>
            <a:ext cx="3683003" cy="647195"/>
            <a:chOff x="0" y="0"/>
            <a:chExt cx="4910671" cy="8629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8D9F0">
                <a:alpha val="35686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10582" cy="862840"/>
            </a:xfrm>
            <a:custGeom>
              <a:avLst/>
              <a:gdLst/>
              <a:ahLst/>
              <a:cxnLst/>
              <a:rect r="r" b="b" t="t" l="l"/>
              <a:pathLst>
                <a:path h="86284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845947"/>
                  </a:lnTo>
                  <a:cubicBezTo>
                    <a:pt x="4910582" y="855345"/>
                    <a:pt x="4902962" y="862838"/>
                    <a:pt x="489369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4893691" y="829056"/>
                  </a:lnTo>
                  <a:lnTo>
                    <a:pt x="4893691" y="845947"/>
                  </a:lnTo>
                  <a:lnTo>
                    <a:pt x="4876800" y="84594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716000" y="4407408"/>
            <a:ext cx="3657600" cy="621792"/>
            <a:chOff x="0" y="0"/>
            <a:chExt cx="4876800" cy="8290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5F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Hand-coded dict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5546855"/>
            <a:ext cx="16850363" cy="1214123"/>
            <a:chOff x="0" y="0"/>
            <a:chExt cx="22467151" cy="16188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18823" y="5546855"/>
            <a:ext cx="939803" cy="1214123"/>
            <a:chOff x="0" y="0"/>
            <a:chExt cx="1253071" cy="16188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52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601851"/>
                  </a:lnTo>
                  <a:cubicBezTo>
                    <a:pt x="1252982" y="1611249"/>
                    <a:pt x="1245362" y="1618742"/>
                    <a:pt x="1236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236091" y="1584960"/>
                  </a:lnTo>
                  <a:lnTo>
                    <a:pt x="1236091" y="1601851"/>
                  </a:lnTo>
                  <a:lnTo>
                    <a:pt x="1219200" y="160185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31520" y="5559552"/>
            <a:ext cx="914400" cy="1188720"/>
            <a:chOff x="0" y="0"/>
            <a:chExt cx="121920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219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920240" y="5687568"/>
            <a:ext cx="4023360" cy="457200"/>
            <a:chOff x="0" y="0"/>
            <a:chExt cx="536448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3644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string match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20240" y="6163056"/>
            <a:ext cx="10607040" cy="457200"/>
            <a:chOff x="0" y="0"/>
            <a:chExt cx="1414272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SequenceMatcher score ≥ 0.82 → "Budhanilkhanta" → "Budhanilkantha"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03303" y="5802887"/>
            <a:ext cx="3683003" cy="647195"/>
            <a:chOff x="0" y="0"/>
            <a:chExt cx="4910671" cy="8629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8D9F0">
                <a:alpha val="35686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10582" cy="862840"/>
            </a:xfrm>
            <a:custGeom>
              <a:avLst/>
              <a:gdLst/>
              <a:ahLst/>
              <a:cxnLst/>
              <a:rect r="r" b="b" t="t" l="l"/>
              <a:pathLst>
                <a:path h="86284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845947"/>
                  </a:lnTo>
                  <a:cubicBezTo>
                    <a:pt x="4910582" y="855345"/>
                    <a:pt x="4902962" y="862838"/>
                    <a:pt x="489369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4893691" y="829056"/>
                  </a:lnTo>
                  <a:lnTo>
                    <a:pt x="4893691" y="845947"/>
                  </a:lnTo>
                  <a:lnTo>
                    <a:pt x="4876800" y="84594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716000" y="5815584"/>
            <a:ext cx="3657600" cy="621792"/>
            <a:chOff x="0" y="0"/>
            <a:chExt cx="4876800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768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5F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difflib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8823" y="6955031"/>
            <a:ext cx="16850363" cy="1214123"/>
            <a:chOff x="0" y="0"/>
            <a:chExt cx="22467151" cy="16188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18823" y="6955031"/>
            <a:ext cx="939803" cy="1214123"/>
            <a:chOff x="0" y="0"/>
            <a:chExt cx="1253071" cy="16188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52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601851"/>
                  </a:lnTo>
                  <a:cubicBezTo>
                    <a:pt x="1252982" y="1611249"/>
                    <a:pt x="1245362" y="1618742"/>
                    <a:pt x="1236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236091" y="1584960"/>
                  </a:lnTo>
                  <a:lnTo>
                    <a:pt x="1236091" y="1601851"/>
                  </a:lnTo>
                  <a:lnTo>
                    <a:pt x="1219200" y="160185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6967728"/>
            <a:ext cx="914400" cy="1188720"/>
            <a:chOff x="0" y="0"/>
            <a:chExt cx="1219200" cy="1584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1219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920240" y="7095744"/>
            <a:ext cx="4023360" cy="457200"/>
            <a:chOff x="0" y="0"/>
            <a:chExt cx="536448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3644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GPS geocode + nearest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920240" y="7571232"/>
            <a:ext cx="10607040" cy="457200"/>
            <a:chOff x="0" y="0"/>
            <a:chExt cx="1414272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Nominatim API → lat/lon → Haversine distance → nearest known location within 7km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703303" y="7211063"/>
            <a:ext cx="3683003" cy="647195"/>
            <a:chOff x="0" y="0"/>
            <a:chExt cx="4910671" cy="86292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8D9F0">
                <a:alpha val="35686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10582" cy="862840"/>
            </a:xfrm>
            <a:custGeom>
              <a:avLst/>
              <a:gdLst/>
              <a:ahLst/>
              <a:cxnLst/>
              <a:rect r="r" b="b" t="t" l="l"/>
              <a:pathLst>
                <a:path h="86284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845947"/>
                  </a:lnTo>
                  <a:cubicBezTo>
                    <a:pt x="4910582" y="855345"/>
                    <a:pt x="4902962" y="862838"/>
                    <a:pt x="489369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4893691" y="829056"/>
                  </a:lnTo>
                  <a:lnTo>
                    <a:pt x="4893691" y="845947"/>
                  </a:lnTo>
                  <a:lnTo>
                    <a:pt x="4876800" y="84594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716000" y="7223760"/>
            <a:ext cx="3657600" cy="621792"/>
            <a:chOff x="0" y="0"/>
            <a:chExt cx="4876800" cy="8290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8768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5F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requests + math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18823" y="8363207"/>
            <a:ext cx="16850363" cy="1214123"/>
            <a:chOff x="0" y="0"/>
            <a:chExt cx="22467151" cy="16188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18823" y="8363207"/>
            <a:ext cx="939803" cy="1214123"/>
            <a:chOff x="0" y="0"/>
            <a:chExt cx="1253071" cy="16188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52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601851"/>
                  </a:lnTo>
                  <a:cubicBezTo>
                    <a:pt x="1252982" y="1611249"/>
                    <a:pt x="1245362" y="1618742"/>
                    <a:pt x="1236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236091" y="1584960"/>
                  </a:lnTo>
                  <a:lnTo>
                    <a:pt x="1236091" y="1601851"/>
                  </a:lnTo>
                  <a:lnTo>
                    <a:pt x="1219200" y="160185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31520" y="8375904"/>
            <a:ext cx="914400" cy="1188720"/>
            <a:chOff x="0" y="0"/>
            <a:chExt cx="121920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1219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920240" y="8503920"/>
            <a:ext cx="4023360" cy="457200"/>
            <a:chOff x="0" y="0"/>
            <a:chExt cx="5364480" cy="609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3644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City-level fallback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920240" y="8979408"/>
            <a:ext cx="10607040" cy="457200"/>
            <a:chOff x="0" y="0"/>
            <a:chExt cx="1414272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Nothing matched → resolved=None → use city median land rate → global median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703303" y="8619239"/>
            <a:ext cx="3683003" cy="647195"/>
            <a:chOff x="0" y="0"/>
            <a:chExt cx="4910671" cy="86292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8D9F0">
                <a:alpha val="35686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910582" cy="862840"/>
            </a:xfrm>
            <a:custGeom>
              <a:avLst/>
              <a:gdLst/>
              <a:ahLst/>
              <a:cxnLst/>
              <a:rect r="r" b="b" t="t" l="l"/>
              <a:pathLst>
                <a:path h="86284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845947"/>
                  </a:lnTo>
                  <a:cubicBezTo>
                    <a:pt x="4910582" y="855345"/>
                    <a:pt x="4902962" y="862838"/>
                    <a:pt x="489369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4893691" y="829056"/>
                  </a:lnTo>
                  <a:lnTo>
                    <a:pt x="4893691" y="845947"/>
                  </a:lnTo>
                  <a:lnTo>
                    <a:pt x="4876800" y="84594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716000" y="8631936"/>
            <a:ext cx="3657600" cy="621792"/>
            <a:chOff x="0" y="0"/>
            <a:chExt cx="4876800" cy="82905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876800" cy="829056"/>
            </a:xfrm>
            <a:custGeom>
              <a:avLst/>
              <a:gdLst/>
              <a:ahLst/>
              <a:cxnLst/>
              <a:rect r="r" b="b" t="t" l="l"/>
              <a:pathLst>
                <a:path h="82905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8768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5F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Graceful fallback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25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Validation &amp;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1998983"/>
            <a:ext cx="3865883" cy="2402843"/>
            <a:chOff x="0" y="0"/>
            <a:chExt cx="5154511" cy="3203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120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4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186811"/>
                  </a:lnTo>
                  <a:cubicBezTo>
                    <a:pt x="5154422" y="3196209"/>
                    <a:pt x="5146802" y="3203702"/>
                    <a:pt x="5137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137531" y="3169920"/>
                  </a:lnTo>
                  <a:lnTo>
                    <a:pt x="5137531" y="3186811"/>
                  </a:lnTo>
                  <a:lnTo>
                    <a:pt x="5120640" y="318681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157984"/>
            <a:ext cx="3840480" cy="512064"/>
            <a:chOff x="0" y="0"/>
            <a:chExt cx="512064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Score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706624"/>
            <a:ext cx="3840480" cy="822960"/>
            <a:chOff x="0" y="0"/>
            <a:chExt cx="51206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120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529584"/>
            <a:ext cx="3474720" cy="694944"/>
            <a:chOff x="0" y="0"/>
            <a:chExt cx="463296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of price variance explained. Good: ≥ 0.80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25063" y="1998983"/>
            <a:ext cx="3865883" cy="2402843"/>
            <a:chOff x="0" y="0"/>
            <a:chExt cx="5154511" cy="3203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120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186811"/>
                  </a:lnTo>
                  <a:cubicBezTo>
                    <a:pt x="5154422" y="3196209"/>
                    <a:pt x="5146802" y="3203702"/>
                    <a:pt x="5137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137531" y="3169920"/>
                  </a:lnTo>
                  <a:lnTo>
                    <a:pt x="5137531" y="3186811"/>
                  </a:lnTo>
                  <a:lnTo>
                    <a:pt x="5120640" y="318681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37760" y="2157984"/>
            <a:ext cx="3840480" cy="512064"/>
            <a:chOff x="0" y="0"/>
            <a:chExt cx="512064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37760" y="2706624"/>
            <a:ext cx="3840480" cy="822960"/>
            <a:chOff x="0" y="0"/>
            <a:chExt cx="512064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120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7,739,99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20640" y="3529584"/>
            <a:ext cx="3474720" cy="694944"/>
            <a:chOff x="0" y="0"/>
            <a:chExt cx="463296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error in NPR (exp scale)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31303" y="1998983"/>
            <a:ext cx="3865883" cy="2402843"/>
            <a:chOff x="0" y="0"/>
            <a:chExt cx="5154511" cy="3203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120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4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186811"/>
                  </a:lnTo>
                  <a:cubicBezTo>
                    <a:pt x="5154422" y="3196209"/>
                    <a:pt x="5146802" y="3203702"/>
                    <a:pt x="5137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137531" y="3169920"/>
                  </a:lnTo>
                  <a:lnTo>
                    <a:pt x="5137531" y="3186811"/>
                  </a:lnTo>
                  <a:lnTo>
                    <a:pt x="5120640" y="318681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0" y="2157984"/>
            <a:ext cx="3840480" cy="512064"/>
            <a:chOff x="0" y="0"/>
            <a:chExt cx="512064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CV Folds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0" y="2706624"/>
            <a:ext cx="3840480" cy="822960"/>
            <a:chOff x="0" y="0"/>
            <a:chExt cx="512064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120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5-Fold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3529584"/>
            <a:ext cx="3474720" cy="694944"/>
            <a:chOff x="0" y="0"/>
            <a:chExt cx="463296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K-fold cross-validation on train set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37543" y="1998983"/>
            <a:ext cx="3865883" cy="2402843"/>
            <a:chOff x="0" y="0"/>
            <a:chExt cx="5154511" cy="32037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1206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54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3186811"/>
                  </a:lnTo>
                  <a:cubicBezTo>
                    <a:pt x="5154422" y="3196209"/>
                    <a:pt x="5146802" y="3203702"/>
                    <a:pt x="51375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137531" y="3169920"/>
                  </a:lnTo>
                  <a:lnTo>
                    <a:pt x="5137531" y="3186811"/>
                  </a:lnTo>
                  <a:lnTo>
                    <a:pt x="5120640" y="318681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350240" y="2157984"/>
            <a:ext cx="3840480" cy="512064"/>
            <a:chOff x="0" y="0"/>
            <a:chExt cx="512064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Split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50240" y="2706624"/>
            <a:ext cx="3840480" cy="822960"/>
            <a:chOff x="0" y="0"/>
            <a:chExt cx="512064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5120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 / 20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33120" y="3529584"/>
            <a:ext cx="3474720" cy="694944"/>
            <a:chOff x="0" y="0"/>
            <a:chExt cx="463296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926592"/>
            </a:xfrm>
            <a:custGeom>
              <a:avLst/>
              <a:gdLst/>
              <a:ahLst/>
              <a:cxnLst/>
              <a:rect r="r" b="b" t="t" l="l"/>
              <a:pathLst>
                <a:path h="92659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Holdout 20% never seen during training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1520" y="4754880"/>
            <a:ext cx="8229600" cy="640080"/>
            <a:chOff x="0" y="0"/>
            <a:chExt cx="109728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validated: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5473703"/>
            <a:ext cx="16850363" cy="939803"/>
            <a:chOff x="0" y="0"/>
            <a:chExt cx="22467151" cy="12530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67063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236091"/>
                  </a:lnTo>
                  <a:cubicBezTo>
                    <a:pt x="22467063" y="1245489"/>
                    <a:pt x="22459443" y="1252982"/>
                    <a:pt x="2245017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450171" y="1219200"/>
                  </a:lnTo>
                  <a:lnTo>
                    <a:pt x="22450171" y="1236091"/>
                  </a:lnTo>
                  <a:lnTo>
                    <a:pt x="22433280" y="12360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1520" y="5486400"/>
            <a:ext cx="640080" cy="914400"/>
            <a:chOff x="0" y="0"/>
            <a:chExt cx="8534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53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54480" y="5577840"/>
            <a:ext cx="15727680" cy="731520"/>
            <a:chOff x="0" y="0"/>
            <a:chExt cx="2097024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097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K-Fold CV: Split training data into 5 parts. Train on 4, test on 1, repeat. Reports R² per fold - if folds are consistent, the model generalises well.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18823" y="6570983"/>
            <a:ext cx="16850363" cy="939803"/>
            <a:chOff x="0" y="0"/>
            <a:chExt cx="22467151" cy="12530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67063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236091"/>
                  </a:lnTo>
                  <a:cubicBezTo>
                    <a:pt x="22467063" y="1245489"/>
                    <a:pt x="22459443" y="1252982"/>
                    <a:pt x="2245017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450171" y="1219200"/>
                  </a:lnTo>
                  <a:lnTo>
                    <a:pt x="22450171" y="1236091"/>
                  </a:lnTo>
                  <a:lnTo>
                    <a:pt x="22433280" y="12360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31520" y="6583680"/>
            <a:ext cx="640080" cy="914400"/>
            <a:chOff x="0" y="0"/>
            <a:chExt cx="85344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53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54480" y="6675120"/>
            <a:ext cx="15727680" cy="731520"/>
            <a:chOff x="0" y="0"/>
            <a:chExt cx="2097024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097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Holdout evaluation: Final test on 20% of data the model never touched. R² and MAE reported on this unseen set.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18823" y="7668263"/>
            <a:ext cx="16850363" cy="939803"/>
            <a:chOff x="0" y="0"/>
            <a:chExt cx="22467151" cy="12530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467063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236091"/>
                  </a:lnTo>
                  <a:cubicBezTo>
                    <a:pt x="22467063" y="1245489"/>
                    <a:pt x="22459443" y="1252982"/>
                    <a:pt x="2245017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450171" y="1219200"/>
                  </a:lnTo>
                  <a:lnTo>
                    <a:pt x="22450171" y="1236091"/>
                  </a:lnTo>
                  <a:lnTo>
                    <a:pt x="22433280" y="12360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7680960"/>
            <a:ext cx="640080" cy="914400"/>
            <a:chOff x="0" y="0"/>
            <a:chExt cx="85344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53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54480" y="7772400"/>
            <a:ext cx="15727680" cy="731520"/>
            <a:chOff x="0" y="0"/>
            <a:chExt cx="2097024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097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importance: model.feature_importances_ shows which columns drove predictions - loc_land_rate and Area_Anna are typically #1 and #2.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18823" y="8765543"/>
            <a:ext cx="16850363" cy="939803"/>
            <a:chOff x="0" y="0"/>
            <a:chExt cx="22467151" cy="12530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253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467063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236091"/>
                  </a:lnTo>
                  <a:cubicBezTo>
                    <a:pt x="22467063" y="1245489"/>
                    <a:pt x="22459443" y="1252982"/>
                    <a:pt x="2245017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450171" y="1219200"/>
                  </a:lnTo>
                  <a:lnTo>
                    <a:pt x="22450171" y="1236091"/>
                  </a:lnTo>
                  <a:lnTo>
                    <a:pt x="22433280" y="12360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31520" y="8778240"/>
            <a:ext cx="640080" cy="914400"/>
            <a:chOff x="0" y="0"/>
            <a:chExt cx="85344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53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53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54480" y="8869680"/>
            <a:ext cx="15727680" cy="731520"/>
            <a:chOff x="0" y="0"/>
            <a:chExt cx="2097024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097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Refit on all data: After validation passes, the model is retrained on 100% of data for maximum accuracy when deployed.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998983"/>
            <a:ext cx="5694683" cy="720347"/>
            <a:chOff x="0" y="0"/>
            <a:chExt cx="7592911" cy="960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8FD1">
                <a:alpha val="6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011680"/>
            <a:ext cx="5669280" cy="694944"/>
            <a:chOff x="0" y="0"/>
            <a:chExt cx="755904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&amp; ML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913383"/>
            <a:ext cx="5694683" cy="1525019"/>
            <a:chOff x="0" y="0"/>
            <a:chExt cx="7592911" cy="20333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135131" cy="1525019"/>
            <a:chOff x="0" y="0"/>
            <a:chExt cx="180175" cy="2033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108960"/>
            <a:ext cx="5212080" cy="475488"/>
            <a:chOff x="0" y="0"/>
            <a:chExt cx="694944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3621024"/>
            <a:ext cx="5212080" cy="694944"/>
            <a:chOff x="0" y="0"/>
            <a:chExt cx="6949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DataFrame operations, CSV I/O, groupby, get_dummies()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4650743"/>
            <a:ext cx="5694683" cy="1525019"/>
            <a:chOff x="0" y="0"/>
            <a:chExt cx="7592911" cy="20333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4650743"/>
            <a:ext cx="135131" cy="1525019"/>
            <a:chOff x="0" y="0"/>
            <a:chExt cx="180175" cy="20333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846320"/>
            <a:ext cx="5212080" cy="475488"/>
            <a:chOff x="0" y="0"/>
            <a:chExt cx="694944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5358384"/>
            <a:ext cx="5212080" cy="694944"/>
            <a:chOff x="0" y="0"/>
            <a:chExt cx="6949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np.log() / np.exp() for price transform, array ops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6388103"/>
            <a:ext cx="5694683" cy="1525019"/>
            <a:chOff x="0" y="0"/>
            <a:chExt cx="7592911" cy="20333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5943" y="6388103"/>
            <a:ext cx="135131" cy="1525019"/>
            <a:chOff x="0" y="0"/>
            <a:chExt cx="180175" cy="20333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6583680"/>
            <a:ext cx="5212080" cy="475488"/>
            <a:chOff x="0" y="0"/>
            <a:chExt cx="694944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scikit-learn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7095744"/>
            <a:ext cx="5212080" cy="694944"/>
            <a:chOff x="0" y="0"/>
            <a:chExt cx="69494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GradientBoostingRegressor, KFold, train_test_split, metrics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8125463"/>
            <a:ext cx="5694683" cy="1525019"/>
            <a:chOff x="0" y="0"/>
            <a:chExt cx="7592911" cy="20333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5943" y="8125463"/>
            <a:ext cx="135131" cy="1525019"/>
            <a:chOff x="0" y="0"/>
            <a:chExt cx="180175" cy="20333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8321040"/>
            <a:ext cx="5212080" cy="475488"/>
            <a:chOff x="0" y="0"/>
            <a:chExt cx="694944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8833104"/>
            <a:ext cx="5212080" cy="694944"/>
            <a:chOff x="0" y="0"/>
            <a:chExt cx="694944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Serialize trained model and metadata to .pkl files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479543" y="1998983"/>
            <a:ext cx="5694683" cy="720347"/>
            <a:chOff x="0" y="0"/>
            <a:chExt cx="7592911" cy="9604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ECC71">
                <a:alpha val="63922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92240" y="2011680"/>
            <a:ext cx="5669280" cy="694944"/>
            <a:chOff x="0" y="0"/>
            <a:chExt cx="755904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&amp; Utilities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479543" y="2913383"/>
            <a:ext cx="5694683" cy="1525019"/>
            <a:chOff x="0" y="0"/>
            <a:chExt cx="7592911" cy="20333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479543" y="2913383"/>
            <a:ext cx="135131" cy="1525019"/>
            <a:chOff x="0" y="0"/>
            <a:chExt cx="180175" cy="20333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766560" y="3108960"/>
            <a:ext cx="5212080" cy="475488"/>
            <a:chOff x="0" y="0"/>
            <a:chExt cx="694944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766560" y="3621024"/>
            <a:ext cx="5212080" cy="694944"/>
            <a:chOff x="0" y="0"/>
            <a:chExt cx="694944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server, @app.route, request.get_json(), jsonify()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479543" y="4650743"/>
            <a:ext cx="5694683" cy="1525019"/>
            <a:chOff x="0" y="0"/>
            <a:chExt cx="7592911" cy="20333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79543" y="4650743"/>
            <a:ext cx="135131" cy="1525019"/>
            <a:chOff x="0" y="0"/>
            <a:chExt cx="180175" cy="203335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766560" y="4846320"/>
            <a:ext cx="5212080" cy="475488"/>
            <a:chOff x="0" y="0"/>
            <a:chExt cx="694944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requests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766560" y="5358384"/>
            <a:ext cx="5212080" cy="694944"/>
            <a:chOff x="0" y="0"/>
            <a:chExt cx="694944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GET to Nominatim geocoding API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479543" y="6388103"/>
            <a:ext cx="5694683" cy="1525019"/>
            <a:chOff x="0" y="0"/>
            <a:chExt cx="7592911" cy="203335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79543" y="6388103"/>
            <a:ext cx="135131" cy="1525019"/>
            <a:chOff x="0" y="0"/>
            <a:chExt cx="180175" cy="203335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766560" y="6583680"/>
            <a:ext cx="5212080" cy="475488"/>
            <a:chOff x="0" y="0"/>
            <a:chExt cx="694944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difflib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766560" y="7095744"/>
            <a:ext cx="5212080" cy="694944"/>
            <a:chOff x="0" y="0"/>
            <a:chExt cx="694944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SequenceMatcher for fuzzy location name matching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479543" y="8125463"/>
            <a:ext cx="5694683" cy="1525019"/>
            <a:chOff x="0" y="0"/>
            <a:chExt cx="7592911" cy="203335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479543" y="8125463"/>
            <a:ext cx="135131" cy="1525019"/>
            <a:chOff x="0" y="0"/>
            <a:chExt cx="180175" cy="203335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766560" y="8321040"/>
            <a:ext cx="5212080" cy="475488"/>
            <a:chOff x="0" y="0"/>
            <a:chExt cx="6949440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 / math / json / os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766560" y="8833104"/>
            <a:ext cx="5212080" cy="694944"/>
            <a:chOff x="0" y="0"/>
            <a:chExt cx="694944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Regex parsing, Haversine distance, cache I/O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423143" y="1998983"/>
            <a:ext cx="5694683" cy="720347"/>
            <a:chOff x="0" y="0"/>
            <a:chExt cx="7592911" cy="96046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67E22">
                <a:alpha val="63922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435840" y="2011680"/>
            <a:ext cx="5669280" cy="694944"/>
            <a:chOff x="0" y="0"/>
            <a:chExt cx="7559040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423143" y="2913383"/>
            <a:ext cx="5694683" cy="1525019"/>
            <a:chOff x="0" y="0"/>
            <a:chExt cx="7592911" cy="203335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423143" y="2913383"/>
            <a:ext cx="135131" cy="1525019"/>
            <a:chOff x="0" y="0"/>
            <a:chExt cx="180175" cy="203335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67E22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710160" y="3108960"/>
            <a:ext cx="5212080" cy="475488"/>
            <a:chOff x="0" y="0"/>
            <a:chExt cx="6949440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HTML5 / CSS3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710160" y="3621024"/>
            <a:ext cx="5212080" cy="694944"/>
            <a:chOff x="0" y="0"/>
            <a:chExt cx="6949440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markup, CSS variables, clamp(), animations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423143" y="4650743"/>
            <a:ext cx="5694683" cy="1525019"/>
            <a:chOff x="0" y="0"/>
            <a:chExt cx="7592911" cy="203335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423143" y="4650743"/>
            <a:ext cx="135131" cy="1525019"/>
            <a:chOff x="0" y="0"/>
            <a:chExt cx="180175" cy="203335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67E22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710160" y="4846320"/>
            <a:ext cx="5212080" cy="475488"/>
            <a:chOff x="0" y="0"/>
            <a:chExt cx="6949440" cy="63398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Vanilla JS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710160" y="5358384"/>
            <a:ext cx="5212080" cy="694944"/>
            <a:chOff x="0" y="0"/>
            <a:chExt cx="6949440" cy="92659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Fetch API, DOM manipulation, step navigation, validation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423143" y="6388103"/>
            <a:ext cx="5694683" cy="1525019"/>
            <a:chOff x="0" y="0"/>
            <a:chExt cx="7592911" cy="203335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423143" y="6388103"/>
            <a:ext cx="135131" cy="1525019"/>
            <a:chOff x="0" y="0"/>
            <a:chExt cx="180175" cy="203335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67E22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710160" y="6583680"/>
            <a:ext cx="5212080" cy="475488"/>
            <a:chOff x="0" y="0"/>
            <a:chExt cx="6949440" cy="63398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Fonts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710160" y="7095744"/>
            <a:ext cx="5212080" cy="694944"/>
            <a:chOff x="0" y="0"/>
            <a:chExt cx="6949440" cy="92659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Cormorant Garamond (serif) + DM Sans (sans-serif)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423143" y="8125463"/>
            <a:ext cx="5694683" cy="1525019"/>
            <a:chOff x="0" y="0"/>
            <a:chExt cx="7592911" cy="203335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75590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592822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16379"/>
                  </a:lnTo>
                  <a:cubicBezTo>
                    <a:pt x="7592822" y="2025777"/>
                    <a:pt x="7585202" y="2033270"/>
                    <a:pt x="757593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75931" y="1999488"/>
                  </a:lnTo>
                  <a:lnTo>
                    <a:pt x="7575931" y="2016379"/>
                  </a:lnTo>
                  <a:lnTo>
                    <a:pt x="7559040" y="20163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D9F0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423143" y="8125463"/>
            <a:ext cx="135131" cy="1525019"/>
            <a:chOff x="0" y="0"/>
            <a:chExt cx="180175" cy="203335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46304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67E2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80086" cy="2033270"/>
            </a:xfrm>
            <a:custGeom>
              <a:avLst/>
              <a:gdLst/>
              <a:ahLst/>
              <a:cxnLst/>
              <a:rect r="r" b="b" t="t" l="l"/>
              <a:pathLst>
                <a:path h="203327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710160" y="8321040"/>
            <a:ext cx="5212080" cy="475488"/>
            <a:chOff x="0" y="0"/>
            <a:chExt cx="6949440" cy="6339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694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OpenStreetMap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710160" y="8833104"/>
            <a:ext cx="5212080" cy="694944"/>
            <a:chOff x="0" y="0"/>
            <a:chExt cx="6949440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949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Nominatim geocoding API (free, no API key needed)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Improvements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920240"/>
            <a:ext cx="8046720" cy="548640"/>
            <a:chOff x="0" y="0"/>
            <a:chExt cx="1072896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728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9760" y="1920240"/>
            <a:ext cx="8046720" cy="548640"/>
            <a:chOff x="0" y="0"/>
            <a:chExt cx="107289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28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Improvements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2547623"/>
            <a:ext cx="8072123" cy="1671323"/>
            <a:chOff x="0" y="0"/>
            <a:chExt cx="10762831" cy="2228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8823" y="2547623"/>
            <a:ext cx="135131" cy="1671323"/>
            <a:chOff x="0" y="0"/>
            <a:chExt cx="180175" cy="2228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4128" y="2706624"/>
            <a:ext cx="7498080" cy="475488"/>
            <a:chOff x="0" y="0"/>
            <a:chExt cx="999744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size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4128" y="3218688"/>
            <a:ext cx="7498080" cy="877824"/>
            <a:chOff x="0" y="0"/>
            <a:chExt cx="9997440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trained on a limited Kaggle dataset. More data from Hamrobazaar or property Nepal would improve accuracy significantly.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4412999"/>
            <a:ext cx="8072123" cy="1671323"/>
            <a:chOff x="0" y="0"/>
            <a:chExt cx="10762831" cy="22284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8823" y="4412999"/>
            <a:ext cx="135131" cy="1671323"/>
            <a:chOff x="0" y="0"/>
            <a:chExt cx="180175" cy="2228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4128" y="4572000"/>
            <a:ext cx="7498080" cy="475488"/>
            <a:chOff x="0" y="0"/>
            <a:chExt cx="999744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±12% range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4128" y="5084064"/>
            <a:ext cx="7498080" cy="877824"/>
            <a:chOff x="0" y="0"/>
            <a:chExt cx="999744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Confidence range is hardcoded, not derived from actual model residuals. Should be computed from test set error distribution.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6278375"/>
            <a:ext cx="8072123" cy="1671323"/>
            <a:chOff x="0" y="0"/>
            <a:chExt cx="10762831" cy="22284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8823" y="6278375"/>
            <a:ext cx="135131" cy="1671323"/>
            <a:chOff x="0" y="0"/>
            <a:chExt cx="180175" cy="22284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4128" y="6437376"/>
            <a:ext cx="7498080" cy="475488"/>
            <a:chOff x="0" y="0"/>
            <a:chExt cx="999744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temporal data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4128" y="6949440"/>
            <a:ext cx="7498080" cy="877824"/>
            <a:chOff x="0" y="0"/>
            <a:chExt cx="999744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House prices change over time. The model has no awareness of market trends or seasonal variation.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18823" y="8143751"/>
            <a:ext cx="8072123" cy="1671323"/>
            <a:chOff x="0" y="0"/>
            <a:chExt cx="10762831" cy="2228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18823" y="8143751"/>
            <a:ext cx="135131" cy="1671323"/>
            <a:chOff x="0" y="0"/>
            <a:chExt cx="180175" cy="22284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4128" y="8302752"/>
            <a:ext cx="7498080" cy="475488"/>
            <a:chOff x="0" y="0"/>
            <a:chExt cx="999744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Hardcoded CITY_MAP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" y="8814816"/>
            <a:ext cx="7498080" cy="877824"/>
            <a:chOff x="0" y="0"/>
            <a:chExt cx="9997440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Typo correction for city names is hand-coded. Should use the same fuzzy matching as LocationResolver.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97063" y="2547623"/>
            <a:ext cx="8072123" cy="1671323"/>
            <a:chOff x="0" y="0"/>
            <a:chExt cx="10762831" cy="22284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97063" y="2547623"/>
            <a:ext cx="135131" cy="1671323"/>
            <a:chOff x="0" y="0"/>
            <a:chExt cx="180175" cy="22284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02368" y="2706624"/>
            <a:ext cx="7498080" cy="475488"/>
            <a:chOff x="0" y="0"/>
            <a:chExt cx="9997440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Hyperparameter tuning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02368" y="3218688"/>
            <a:ext cx="7498080" cy="877824"/>
            <a:chOff x="0" y="0"/>
            <a:chExt cx="9997440" cy="11704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GridSearchCV or RandomizedSearchCV to find optimal n_estimators, learning_rate, max_depth automatically.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97063" y="4412999"/>
            <a:ext cx="8072123" cy="1671323"/>
            <a:chOff x="0" y="0"/>
            <a:chExt cx="10762831" cy="22284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97063" y="4412999"/>
            <a:ext cx="135131" cy="1671323"/>
            <a:chOff x="0" y="0"/>
            <a:chExt cx="180175" cy="22284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02368" y="4572000"/>
            <a:ext cx="7498080" cy="475488"/>
            <a:chOff x="0" y="0"/>
            <a:chExt cx="999744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/ LightGBM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02368" y="5084064"/>
            <a:ext cx="7498080" cy="877824"/>
            <a:chOff x="0" y="0"/>
            <a:chExt cx="9997440" cy="11704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Industry-standard gradient boosting libraries - faster training, better accuracy, built-in early stopping.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97063" y="6278375"/>
            <a:ext cx="8072123" cy="1671323"/>
            <a:chOff x="0" y="0"/>
            <a:chExt cx="10762831" cy="22284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97063" y="6278375"/>
            <a:ext cx="135131" cy="1671323"/>
            <a:chOff x="0" y="0"/>
            <a:chExt cx="180175" cy="222843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802368" y="6437376"/>
            <a:ext cx="7498080" cy="475488"/>
            <a:chOff x="0" y="0"/>
            <a:chExt cx="9997440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MAPE metric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02368" y="6949440"/>
            <a:ext cx="7498080" cy="877824"/>
            <a:chOff x="0" y="0"/>
            <a:chExt cx="9997440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Mean Absolute Percentage Error - 'model is off by X% on average' is more interpretable than NPR MAE.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97063" y="8143751"/>
            <a:ext cx="8072123" cy="1671323"/>
            <a:chOff x="0" y="0"/>
            <a:chExt cx="10762831" cy="22284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497063" y="8143751"/>
            <a:ext cx="135131" cy="1671323"/>
            <a:chOff x="0" y="0"/>
            <a:chExt cx="180175" cy="222843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02368" y="8302752"/>
            <a:ext cx="7498080" cy="475488"/>
            <a:chOff x="0" y="0"/>
            <a:chExt cx="999744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9997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data sources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02368" y="8814816"/>
            <a:ext cx="7498080" cy="877824"/>
            <a:chOff x="0" y="0"/>
            <a:chExt cx="9997440" cy="117043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 Hamrobazaar, Property Nepal for more listings - especially outside Kathmandu Valley.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-12697"/>
            <a:ext cx="4597403" cy="10312403"/>
            <a:chOff x="0" y="0"/>
            <a:chExt cx="61298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5F96">
                <a:alpha val="196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732890"/>
                  </a:lnTo>
                  <a:cubicBezTo>
                    <a:pt x="6129782" y="13742290"/>
                    <a:pt x="6122162" y="13749782"/>
                    <a:pt x="6112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112891" y="13716000"/>
                  </a:lnTo>
                  <a:lnTo>
                    <a:pt x="6112891" y="13732890"/>
                  </a:lnTo>
                  <a:lnTo>
                    <a:pt x="6096000" y="13732890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F96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12263" y="-12697"/>
            <a:ext cx="1488443" cy="10312403"/>
            <a:chOff x="0" y="0"/>
            <a:chExt cx="1984591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9507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A8FD1">
                <a:alpha val="588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45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732890"/>
                  </a:lnTo>
                  <a:cubicBezTo>
                    <a:pt x="1984502" y="13742290"/>
                    <a:pt x="1976882" y="13749782"/>
                    <a:pt x="19676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967611" y="13716000"/>
                  </a:lnTo>
                  <a:lnTo>
                    <a:pt x="1967611" y="13732890"/>
                  </a:lnTo>
                  <a:lnTo>
                    <a:pt x="1950720" y="13732890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>
                <a:alpha val="588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583" y="2181863"/>
            <a:ext cx="135131" cy="5877563"/>
            <a:chOff x="0" y="0"/>
            <a:chExt cx="180175" cy="7836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7802881"/>
            </a:xfrm>
            <a:custGeom>
              <a:avLst/>
              <a:gdLst/>
              <a:ahLst/>
              <a:cxnLst/>
              <a:rect r="r" b="b" t="t" l="l"/>
              <a:pathLst>
                <a:path h="7802881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3A8F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7836662"/>
            </a:xfrm>
            <a:custGeom>
              <a:avLst/>
              <a:gdLst/>
              <a:ahLst/>
              <a:cxnLst/>
              <a:rect r="r" b="b" t="t" l="l"/>
              <a:pathLst>
                <a:path h="7836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819772"/>
                  </a:lnTo>
                  <a:cubicBezTo>
                    <a:pt x="180086" y="7829169"/>
                    <a:pt x="172466" y="7836662"/>
                    <a:pt x="163195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63195" y="7802880"/>
                  </a:lnTo>
                  <a:lnTo>
                    <a:pt x="163195" y="7819772"/>
                  </a:lnTo>
                  <a:lnTo>
                    <a:pt x="146304" y="7819772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2194560"/>
            <a:ext cx="11887200" cy="731520"/>
            <a:chOff x="0" y="0"/>
            <a:chExt cx="158496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975360"/>
            </a:xfrm>
            <a:custGeom>
              <a:avLst/>
              <a:gdLst/>
              <a:ahLst/>
              <a:cxnLst/>
              <a:rect r="r" b="b" t="t" l="l"/>
              <a:pathLst>
                <a:path h="9753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849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built: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3108960"/>
            <a:ext cx="11887200" cy="822960"/>
            <a:chOff x="0" y="0"/>
            <a:chExt cx="1584960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849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6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end-to-end ML pipeline - from raw scraped data to a live web prediction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3040" y="4114800"/>
            <a:ext cx="11887200" cy="822960"/>
            <a:chOff x="0" y="0"/>
            <a:chExt cx="158496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5849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6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 Boosting model with log-transformed target, engineered features, and K-fold validation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40" y="5120640"/>
            <a:ext cx="11887200" cy="822960"/>
            <a:chOff x="0" y="0"/>
            <a:chExt cx="158496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4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5849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6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5-step location resolution handling typos, aliases, fuzzy matching, and GPS fallback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3040" y="6126480"/>
            <a:ext cx="11887200" cy="822960"/>
            <a:chOff x="0" y="0"/>
            <a:chExt cx="158496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5849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A8FD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600">
                  <a:solidFill>
                    <a:srgbClr val="B8D9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polished Flask web app with a multi-step form and animated result display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50343" y="7211063"/>
            <a:ext cx="4597403" cy="98555"/>
            <a:chOff x="0" y="0"/>
            <a:chExt cx="6129871" cy="1314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09600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A8FD1">
                <a:alpha val="2470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29782" cy="131320"/>
            </a:xfrm>
            <a:custGeom>
              <a:avLst/>
              <a:gdLst/>
              <a:ahLst/>
              <a:cxnLst/>
              <a:rect r="r" b="b" t="t" l="l"/>
              <a:pathLst>
                <a:path h="131320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14427"/>
                  </a:lnTo>
                  <a:cubicBezTo>
                    <a:pt x="6129782" y="123825"/>
                    <a:pt x="6122162" y="131318"/>
                    <a:pt x="61128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6112891" y="97536"/>
                  </a:lnTo>
                  <a:lnTo>
                    <a:pt x="6112891" y="114427"/>
                  </a:lnTo>
                  <a:lnTo>
                    <a:pt x="6096000" y="114427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8FD1">
                <a:alpha val="24706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3040" y="7498080"/>
            <a:ext cx="7315200" cy="914400"/>
            <a:chOff x="0" y="0"/>
            <a:chExt cx="97536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14300"/>
              <a:ext cx="97536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1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3040" y="8412480"/>
            <a:ext cx="9144000" cy="731520"/>
            <a:chOff x="0" y="0"/>
            <a:chExt cx="1219200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2192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8F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Nepal Property Intelligence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DAHGWURypyU</dc:identifier>
  <dcterms:modified xsi:type="dcterms:W3CDTF">2011-08-01T06:04:30Z</dcterms:modified>
  <cp:revision>1</cp:revision>
  <dc:title>Valora_Presentation.pptx</dc:title>
</cp:coreProperties>
</file>